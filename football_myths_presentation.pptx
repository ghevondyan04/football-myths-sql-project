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8.1254473872584124E-2"/>
          <c:y val="2.7169286423466731E-2"/>
          <c:w val="0.89601825340014318"/>
          <c:h val="0.8787190224817403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</c:v>
                </c:pt>
              </c:strCache>
            </c:strRef>
          </c:tx>
          <c:spPr>
            <a:solidFill>
              <a:srgbClr val="1F77B4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hy-AM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Home win</c:v>
                </c:pt>
                <c:pt idx="1">
                  <c:v>Away win</c:v>
                </c:pt>
                <c:pt idx="2">
                  <c:v>Draw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50.72</c:v>
                </c:pt>
                <c:pt idx="1">
                  <c:v>26.42</c:v>
                </c:pt>
                <c:pt idx="2">
                  <c:v>22.86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545-4330-BE13-418C19186D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300675640"/>
        <c:axId val="300676032"/>
      </c:barChart>
      <c:catAx>
        <c:axId val="3006756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hy-AM"/>
          </a:p>
        </c:txPr>
        <c:crossAx val="300676032"/>
        <c:crosses val="autoZero"/>
        <c:auto val="1"/>
        <c:lblAlgn val="ctr"/>
        <c:lblOffset val="100"/>
        <c:noMultiLvlLbl val="1"/>
      </c:catAx>
      <c:valAx>
        <c:axId val="30067603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hy-AM"/>
          </a:p>
        </c:txPr>
        <c:crossAx val="3006756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lineChart>
        <c:grouping val="standar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99623040"/>
        <c:axId val="299623824"/>
      </c:lineChart>
      <c:catAx>
        <c:axId val="2996230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hy-AM"/>
          </a:p>
        </c:txPr>
        <c:crossAx val="299623824"/>
        <c:crosses val="autoZero"/>
        <c:auto val="1"/>
        <c:lblAlgn val="ctr"/>
        <c:lblOffset val="100"/>
        <c:noMultiLvlLbl val="1"/>
      </c:catAx>
      <c:valAx>
        <c:axId val="29962382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hy-AM"/>
          </a:p>
        </c:txPr>
        <c:crossAx val="299623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goals</c:v>
                </c:pt>
              </c:strCache>
            </c:strRef>
          </c:tx>
          <c:spPr>
            <a:ln w="25400" cap="flat">
              <a:solidFill>
                <a:srgbClr val="1F77B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77B4"/>
              </a:solidFill>
              <a:ln w="9525" cap="flat">
                <a:solidFill>
                  <a:srgbClr val="1F77B4"/>
                </a:solidFill>
                <a:prstDash val="solid"/>
                <a:round/>
              </a:ln>
              <a:effectLst/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hy-AM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1980s</c:v>
                </c:pt>
                <c:pt idx="1">
                  <c:v>1990s</c:v>
                </c:pt>
                <c:pt idx="2">
                  <c:v>2000s</c:v>
                </c:pt>
                <c:pt idx="3">
                  <c:v>2010s</c:v>
                </c:pt>
                <c:pt idx="4">
                  <c:v>2020s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2.5299999999999998</c:v>
                </c:pt>
                <c:pt idx="1">
                  <c:v>2.78</c:v>
                </c:pt>
                <c:pt idx="2">
                  <c:v>2.8</c:v>
                </c:pt>
                <c:pt idx="3">
                  <c:v>2.73</c:v>
                </c:pt>
                <c:pt idx="4">
                  <c:v>2.71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027-4501-92BB-B4007A64B5D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300472024"/>
        <c:axId val="301465184"/>
      </c:lineChart>
      <c:catAx>
        <c:axId val="3004720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hy-AM"/>
          </a:p>
        </c:txPr>
        <c:crossAx val="301465184"/>
        <c:crosses val="autoZero"/>
        <c:auto val="1"/>
        <c:lblAlgn val="ctr"/>
        <c:lblOffset val="100"/>
        <c:noMultiLvlLbl val="1"/>
      </c:catAx>
      <c:valAx>
        <c:axId val="30146518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hy-AM"/>
          </a:p>
        </c:txPr>
        <c:crossAx val="3004720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hy-AM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One-goal</c:v>
                </c:pt>
                <c:pt idx="1">
                  <c:v>Draw</c:v>
                </c:pt>
                <c:pt idx="2">
                  <c:v>Two-goal</c:v>
                </c:pt>
                <c:pt idx="3">
                  <c:v>3–5 goals</c:v>
                </c:pt>
                <c:pt idx="4">
                  <c:v>6+ goals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34.47</c:v>
                </c:pt>
                <c:pt idx="1">
                  <c:v>22.75</c:v>
                </c:pt>
                <c:pt idx="2">
                  <c:v>20.059999999999999</c:v>
                </c:pt>
                <c:pt idx="3">
                  <c:v>18.91</c:v>
                </c:pt>
                <c:pt idx="4">
                  <c:v>3.81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14-47CC-A2CF-656FD15D395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99625000"/>
        <c:axId val="372290536"/>
      </c:barChart>
      <c:catAx>
        <c:axId val="299625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hy-AM"/>
          </a:p>
        </c:txPr>
        <c:crossAx val="372290536"/>
        <c:crosses val="autoZero"/>
        <c:auto val="1"/>
        <c:lblAlgn val="ctr"/>
        <c:lblOffset val="100"/>
        <c:noMultiLvlLbl val="1"/>
      </c:catAx>
      <c:valAx>
        <c:axId val="372290536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hy-AM"/>
          </a:p>
        </c:txPr>
        <c:crossAx val="29962500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hy-AM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01–15</c:v>
                </c:pt>
                <c:pt idx="1">
                  <c:v>16–30</c:v>
                </c:pt>
                <c:pt idx="2">
                  <c:v>31–45</c:v>
                </c:pt>
                <c:pt idx="3">
                  <c:v>46–60</c:v>
                </c:pt>
                <c:pt idx="4">
                  <c:v>61–75</c:v>
                </c:pt>
                <c:pt idx="5">
                  <c:v>76–90</c:v>
                </c:pt>
                <c:pt idx="6">
                  <c:v>90+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12.96</c:v>
                </c:pt>
                <c:pt idx="1">
                  <c:v>14.67</c:v>
                </c:pt>
                <c:pt idx="2">
                  <c:v>16.809999999999999</c:v>
                </c:pt>
                <c:pt idx="3">
                  <c:v>16.59</c:v>
                </c:pt>
                <c:pt idx="4">
                  <c:v>16.98</c:v>
                </c:pt>
                <c:pt idx="5">
                  <c:v>21.45</c:v>
                </c:pt>
                <c:pt idx="6">
                  <c:v>0.54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EB-4B0C-BFFB-56593933473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372291320"/>
        <c:axId val="372292104"/>
      </c:barChart>
      <c:catAx>
        <c:axId val="3722913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hy-AM"/>
          </a:p>
        </c:txPr>
        <c:crossAx val="372292104"/>
        <c:crosses val="autoZero"/>
        <c:auto val="1"/>
        <c:lblAlgn val="ctr"/>
        <c:lblOffset val="100"/>
        <c:noMultiLvlLbl val="1"/>
      </c:catAx>
      <c:valAx>
        <c:axId val="37229210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hy-AM"/>
          </a:p>
        </c:txPr>
        <c:crossAx val="3722913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 of goals</c:v>
                </c:pt>
              </c:strCache>
            </c:strRef>
          </c:tx>
          <c:spPr>
            <a:solidFill>
              <a:srgbClr val="B91C1C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hy-AM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Penalty goals</c:v>
                </c:pt>
                <c:pt idx="1">
                  <c:v>Own goals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6.84</c:v>
                </c:pt>
                <c:pt idx="1">
                  <c:v>1.94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30D-47E4-8790-174780F17FA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372285832"/>
        <c:axId val="372290144"/>
      </c:barChart>
      <c:catAx>
        <c:axId val="3722858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hy-AM"/>
          </a:p>
        </c:txPr>
        <c:crossAx val="372290144"/>
        <c:crosses val="autoZero"/>
        <c:auto val="1"/>
        <c:lblAlgn val="ctr"/>
        <c:lblOffset val="100"/>
        <c:noMultiLvlLbl val="1"/>
      </c:catAx>
      <c:valAx>
        <c:axId val="37229014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hy-AM"/>
          </a:p>
        </c:txPr>
        <c:crossAx val="3722858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 of known first-shooter shootouts</c:v>
                </c:pt>
              </c:strCache>
            </c:strRef>
          </c:tx>
          <c:spPr>
            <a:solidFill>
              <a:srgbClr val="1F77B4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hy-AM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First won</c:v>
                </c:pt>
                <c:pt idx="1">
                  <c:v>First lost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53.66</c:v>
                </c:pt>
                <c:pt idx="1">
                  <c:v>46.34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49-444D-A5FC-75CD5874584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372284656"/>
        <c:axId val="372287400"/>
      </c:barChart>
      <c:catAx>
        <c:axId val="3722846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hy-AM"/>
          </a:p>
        </c:txPr>
        <c:crossAx val="372287400"/>
        <c:crosses val="autoZero"/>
        <c:auto val="1"/>
        <c:lblAlgn val="ctr"/>
        <c:lblOffset val="100"/>
        <c:noMultiLvlLbl val="1"/>
      </c:catAx>
      <c:valAx>
        <c:axId val="372287400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hy-AM"/>
          </a:p>
        </c:txPr>
        <c:crossAx val="3722846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5431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15768" y="2829064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Football Myths Under Data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67512" y="170992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005072" y="355515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</a:rPr>
              <a:t>ETL pipeline • SQL summaries • myth-checking tables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25887" y="4055300"/>
            <a:ext cx="11140226" cy="0"/>
          </a:xfrm>
          <a:prstGeom prst="line">
            <a:avLst/>
          </a:prstGeom>
          <a:noFill/>
          <a:ln w="508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4306824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50392" y="4645152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3319272" y="4645152"/>
            <a:ext cx="1682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5605272" y="4306824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05272" y="4645152"/>
            <a:ext cx="1956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870" dirty="0"/>
          </a:p>
        </p:txBody>
      </p:sp>
      <p:sp>
        <p:nvSpPr>
          <p:cNvPr id="15" name="Text 13"/>
          <p:cNvSpPr/>
          <p:nvPr/>
        </p:nvSpPr>
        <p:spPr>
          <a:xfrm>
            <a:off x="685800" y="629107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2AE52CC6-D886-F270-DFC9-3717FC7AC09B}"/>
              </a:ext>
            </a:extLst>
          </p:cNvPr>
          <p:cNvSpPr/>
          <p:nvPr/>
        </p:nvSpPr>
        <p:spPr>
          <a:xfrm>
            <a:off x="3319272" y="4192505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94A3B8"/>
                </a:solidFill>
              </a:rPr>
              <a:t>Hamlet Ghevondyan • Karine Danielyan • Aram Ananyan• Maria </a:t>
            </a:r>
            <a:r>
              <a:rPr lang="en-US" sz="1200" dirty="0" err="1">
                <a:solidFill>
                  <a:srgbClr val="94A3B8"/>
                </a:solidFill>
              </a:rPr>
              <a:t>Zeinalyan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workflow: from raw files to presentation tables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The project follows a simple ETL path, then converts loaded tables into descriptive SQL summaries.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97706"/>
                </a:solidFill>
              </a:rPr>
              <a:t>PIPELINE LOGIC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731520" y="1847088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2938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7452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Extract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874520" y="21488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Read results, shootouts, and goalscorers CSV files.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31520" y="2807208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88950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7452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Transform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874520" y="31089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Remove unusable rows, standardize dates and validate links.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3767328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84962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874520" y="3749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Load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874520" y="40690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Insert dimensions and fact tables into SQL Server.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1520" y="4727448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8097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7452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Analyze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874520" y="50292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Create views and summary tables for myths and team performance.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498080" y="1920240"/>
            <a:ext cx="3611880" cy="1097280"/>
          </a:xfrm>
          <a:prstGeom prst="roundRect">
            <a:avLst>
              <a:gd name="adj" fmla="val 4167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62672" y="2057400"/>
            <a:ext cx="3282696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</a:rPr>
              <a:t>Output is not a formal statistical test. It is a defensible descriptive evidence base.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99203" y="66111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cleaning: what was controlled before analysis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Final SQL validation.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85800" y="1508760"/>
            <a:ext cx="24688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850392" y="165506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E7D32"/>
                </a:solidFill>
              </a:rPr>
              <a:t>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50392" y="199339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Invalid match values</a:t>
            </a:r>
            <a:endParaRPr lang="en-US" sz="870" dirty="0"/>
          </a:p>
        </p:txBody>
      </p:sp>
      <p:sp>
        <p:nvSpPr>
          <p:cNvPr id="7" name="Shape 5"/>
          <p:cNvSpPr/>
          <p:nvPr/>
        </p:nvSpPr>
        <p:spPr>
          <a:xfrm>
            <a:off x="3429000" y="1508760"/>
            <a:ext cx="24688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93592" y="165506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E7D32"/>
                </a:solidFill>
              </a:rPr>
              <a:t>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93592" y="199339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invalid team links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6172200" y="1508760"/>
            <a:ext cx="24688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36792" y="165506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E7D32"/>
                </a:solidFill>
              </a:rPr>
              <a:t>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336792" y="199339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duplicate fact rows 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8915400" y="1508760"/>
            <a:ext cx="25146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79992" y="1655064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079992" y="1993392"/>
            <a:ext cx="2185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Documented source-data limitation</a:t>
            </a:r>
            <a:endParaRPr lang="en-US" sz="870" dirty="0"/>
          </a:p>
        </p:txBody>
      </p:sp>
      <p:sp>
        <p:nvSpPr>
          <p:cNvPr id="16" name="Text 14"/>
          <p:cNvSpPr/>
          <p:nvPr/>
        </p:nvSpPr>
        <p:spPr>
          <a:xfrm>
            <a:off x="731520" y="2880360"/>
            <a:ext cx="3346704" cy="41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Cleaning decision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4114800" y="2880360"/>
            <a:ext cx="7370064" cy="41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731520" y="3364992"/>
            <a:ext cx="3346704" cy="41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Unplayed future matches removed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4114800" y="3364992"/>
            <a:ext cx="7370064" cy="41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scores cannot support completed-match analysis.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731520" y="3849624"/>
            <a:ext cx="3346704" cy="41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Rows with missing scorer names removed</a:t>
            </a:r>
            <a:endParaRPr lang="en-US" sz="840" dirty="0"/>
          </a:p>
        </p:txBody>
      </p:sp>
      <p:sp>
        <p:nvSpPr>
          <p:cNvPr id="21" name="Text 19"/>
          <p:cNvSpPr/>
          <p:nvPr/>
        </p:nvSpPr>
        <p:spPr>
          <a:xfrm>
            <a:off x="4114800" y="3849624"/>
            <a:ext cx="7370064" cy="41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Scorer-level summaries require a known scorer.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731520" y="4334256"/>
            <a:ext cx="3346704" cy="41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Unmatched shootout excluded</a:t>
            </a:r>
            <a:endParaRPr lang="en-US" sz="840" dirty="0"/>
          </a:p>
        </p:txBody>
      </p:sp>
      <p:sp>
        <p:nvSpPr>
          <p:cNvPr id="23" name="Text 21"/>
          <p:cNvSpPr/>
          <p:nvPr/>
        </p:nvSpPr>
        <p:spPr>
          <a:xfrm>
            <a:off x="4114800" y="4334256"/>
            <a:ext cx="7370064" cy="41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Shootout could not be linked to a result match.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731520" y="4818888"/>
            <a:ext cx="3346704" cy="41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Former names not automatically remapped</a:t>
            </a:r>
            <a:endParaRPr lang="en-US" sz="840" dirty="0"/>
          </a:p>
        </p:txBody>
      </p:sp>
      <p:sp>
        <p:nvSpPr>
          <p:cNvPr id="25" name="Text 23"/>
          <p:cNvSpPr/>
          <p:nvPr/>
        </p:nvSpPr>
        <p:spPr>
          <a:xfrm>
            <a:off x="4114800" y="4818888"/>
            <a:ext cx="7370064" cy="41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Avoids changing historical team identities without a date-wise rule.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EEB98DC5-17FD-12AF-B346-0BEFE92512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8574" y="3252952"/>
            <a:ext cx="3591426" cy="10955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9260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 overview :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85800" y="1508760"/>
            <a:ext cx="1965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0392" y="1655064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F77B4"/>
                </a:solidFill>
              </a:rPr>
              <a:t>49214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50392" y="1993392"/>
            <a:ext cx="1636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matches</a:t>
            </a:r>
            <a:endParaRPr lang="en-US" sz="870" dirty="0"/>
          </a:p>
        </p:txBody>
      </p:sp>
      <p:sp>
        <p:nvSpPr>
          <p:cNvPr id="7" name="Shape 5"/>
          <p:cNvSpPr/>
          <p:nvPr/>
        </p:nvSpPr>
        <p:spPr>
          <a:xfrm>
            <a:off x="2852928" y="1508760"/>
            <a:ext cx="16459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17520" y="1655064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E7D32"/>
                </a:solidFill>
              </a:rPr>
              <a:t>333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017520" y="1993392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teams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4709160" y="1508760"/>
            <a:ext cx="1828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73752" y="165506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</a:rPr>
              <a:t>193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873752" y="1993392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tournaments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6739128" y="1508760"/>
            <a:ext cx="1828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03720" y="165506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B91C1C"/>
                </a:solidFill>
              </a:rPr>
              <a:t>269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903720" y="1993392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host countries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8796528" y="1508760"/>
            <a:ext cx="26060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0" y="1655064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B1F33"/>
                </a:solidFill>
              </a:rPr>
              <a:t>1872–2026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961120" y="1993392"/>
            <a:ext cx="2276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date range</a:t>
            </a:r>
            <a:endParaRPr lang="en-US" sz="870" dirty="0"/>
          </a:p>
        </p:txBody>
      </p:sp>
      <p:sp>
        <p:nvSpPr>
          <p:cNvPr id="19" name="Text 17"/>
          <p:cNvSpPr/>
          <p:nvPr/>
        </p:nvSpPr>
        <p:spPr>
          <a:xfrm>
            <a:off x="1005840" y="2926080"/>
            <a:ext cx="3072384" cy="3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4114800" y="2926080"/>
            <a:ext cx="1792224" cy="3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1005840" y="3814043"/>
            <a:ext cx="3072384" cy="30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goals per match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78224" y="3755060"/>
            <a:ext cx="1792224" cy="3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2.94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3733800"/>
            <a:ext cx="3072384" cy="3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4114800" y="3733800"/>
            <a:ext cx="1792224" cy="3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840" dirty="0"/>
          </a:p>
        </p:txBody>
      </p:sp>
      <p:sp>
        <p:nvSpPr>
          <p:cNvPr id="25" name="Text 23"/>
          <p:cNvSpPr/>
          <p:nvPr/>
        </p:nvSpPr>
        <p:spPr>
          <a:xfrm>
            <a:off x="1005840" y="4137660"/>
            <a:ext cx="3072384" cy="3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Minimum goals in a match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114800" y="4137660"/>
            <a:ext cx="1792224" cy="3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</a:rPr>
              <a:t>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05840" y="4553788"/>
            <a:ext cx="3072384" cy="3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Maximum goals in a match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0" y="4541520"/>
            <a:ext cx="1792224" cy="3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05840" y="4945380"/>
            <a:ext cx="3072384" cy="3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840" dirty="0"/>
          </a:p>
        </p:txBody>
      </p:sp>
      <p:sp>
        <p:nvSpPr>
          <p:cNvPr id="30" name="Text 28"/>
          <p:cNvSpPr/>
          <p:nvPr/>
        </p:nvSpPr>
        <p:spPr>
          <a:xfrm>
            <a:off x="4114800" y="4945380"/>
            <a:ext cx="1792224" cy="3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373368" y="3127248"/>
            <a:ext cx="4297680" cy="1463040"/>
          </a:xfrm>
          <a:prstGeom prst="roundRect">
            <a:avLst>
              <a:gd name="adj" fmla="val 3125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0" y="3273400"/>
            <a:ext cx="3968496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400" dirty="0"/>
              <a:t>The data includes a wide historical range and different types of tournaments.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Myth 1: “The home team always wins”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852740274"/>
              </p:ext>
            </p:extLst>
          </p:nvPr>
        </p:nvGraphicFramePr>
        <p:xfrm>
          <a:off x="287199" y="1508760"/>
          <a:ext cx="6100722" cy="4866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>
            <p:extLst>
              <p:ext uri="{D42A27DB-BD31-4B8C-83A1-F6EECF244321}">
                <p14:modId xmlns:p14="http://schemas.microsoft.com/office/powerpoint/2010/main" val="3880337149"/>
              </p:ext>
            </p:extLst>
          </p:nvPr>
        </p:nvGraphicFramePr>
        <p:xfrm>
          <a:off x="5794849" y="1880315"/>
          <a:ext cx="5497991" cy="34414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7082737" y="3651353"/>
            <a:ext cx="4709160" cy="822960"/>
          </a:xfrm>
          <a:prstGeom prst="roundRect">
            <a:avLst>
              <a:gd name="adj" fmla="val 5556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247329" y="3788513"/>
            <a:ext cx="437997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50" b="1" dirty="0"/>
              <a:t>Descriptive interpretation: home teams win about 51% of non-neutral matches, so home advantage is real but not deterministic</a:t>
            </a:r>
            <a:r>
              <a:rPr lang="en-US" sz="1250" b="1" dirty="0">
                <a:solidFill>
                  <a:srgbClr val="2E7D32"/>
                </a:solidFill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15799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Myth 2: “Football is becoming boring because goals disappeared”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.</a:t>
            </a:r>
            <a:endParaRPr lang="en-US" sz="11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777240" y="1417320"/>
          <a:ext cx="566928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6995160" y="1600200"/>
            <a:ext cx="1335024" cy="3604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Decade</a:t>
            </a:r>
            <a:endParaRPr lang="en-US" sz="880" dirty="0"/>
          </a:p>
        </p:txBody>
      </p:sp>
      <p:sp>
        <p:nvSpPr>
          <p:cNvPr id="6" name="Text 3"/>
          <p:cNvSpPr/>
          <p:nvPr/>
        </p:nvSpPr>
        <p:spPr>
          <a:xfrm>
            <a:off x="8366760" y="1600200"/>
            <a:ext cx="2295144" cy="3604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± SD goals</a:t>
            </a:r>
            <a:endParaRPr lang="en-US" sz="880" dirty="0"/>
          </a:p>
        </p:txBody>
      </p:sp>
      <p:sp>
        <p:nvSpPr>
          <p:cNvPr id="7" name="Text 4"/>
          <p:cNvSpPr/>
          <p:nvPr/>
        </p:nvSpPr>
        <p:spPr>
          <a:xfrm>
            <a:off x="6995160" y="2019300"/>
            <a:ext cx="1335024" cy="3604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1980s</a:t>
            </a:r>
            <a:endParaRPr lang="en-US" sz="840" dirty="0"/>
          </a:p>
        </p:txBody>
      </p:sp>
      <p:sp>
        <p:nvSpPr>
          <p:cNvPr id="8" name="Text 5"/>
          <p:cNvSpPr/>
          <p:nvPr/>
        </p:nvSpPr>
        <p:spPr>
          <a:xfrm>
            <a:off x="8366760" y="2019300"/>
            <a:ext cx="2295144" cy="3604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2.53 ± 1.82</a:t>
            </a:r>
            <a:endParaRPr lang="en-US" sz="840" dirty="0"/>
          </a:p>
        </p:txBody>
      </p:sp>
      <p:sp>
        <p:nvSpPr>
          <p:cNvPr id="9" name="Text 6"/>
          <p:cNvSpPr/>
          <p:nvPr/>
        </p:nvSpPr>
        <p:spPr>
          <a:xfrm>
            <a:off x="6995160" y="2438400"/>
            <a:ext cx="1335024" cy="3604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1990s</a:t>
            </a:r>
            <a:endParaRPr lang="en-US" sz="840" dirty="0"/>
          </a:p>
        </p:txBody>
      </p:sp>
      <p:sp>
        <p:nvSpPr>
          <p:cNvPr id="10" name="Text 7"/>
          <p:cNvSpPr/>
          <p:nvPr/>
        </p:nvSpPr>
        <p:spPr>
          <a:xfrm>
            <a:off x="8366760" y="2438400"/>
            <a:ext cx="2295144" cy="3604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2.78 ± 2.02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6995160" y="2857500"/>
            <a:ext cx="1335024" cy="3604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2000s</a:t>
            </a:r>
            <a:endParaRPr lang="en-US" sz="840" dirty="0"/>
          </a:p>
        </p:txBody>
      </p:sp>
      <p:sp>
        <p:nvSpPr>
          <p:cNvPr id="12" name="Text 9"/>
          <p:cNvSpPr/>
          <p:nvPr/>
        </p:nvSpPr>
        <p:spPr>
          <a:xfrm>
            <a:off x="8366760" y="2857500"/>
            <a:ext cx="2295144" cy="3604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2.80 ± 2.06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6995160" y="3276600"/>
            <a:ext cx="1335024" cy="3604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2010s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8366760" y="3276600"/>
            <a:ext cx="2295144" cy="3604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2.73 ± 1.96</a:t>
            </a:r>
            <a:endParaRPr lang="en-US" sz="840" dirty="0"/>
          </a:p>
        </p:txBody>
      </p:sp>
      <p:sp>
        <p:nvSpPr>
          <p:cNvPr id="15" name="Text 12"/>
          <p:cNvSpPr/>
          <p:nvPr/>
        </p:nvSpPr>
        <p:spPr>
          <a:xfrm>
            <a:off x="6995160" y="3695700"/>
            <a:ext cx="1335024" cy="3604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2020s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8366760" y="3695700"/>
            <a:ext cx="2295144" cy="3604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2.71 ± 1.83</a:t>
            </a:r>
            <a:endParaRPr lang="en-US" sz="840" dirty="0"/>
          </a:p>
        </p:txBody>
      </p:sp>
      <p:sp>
        <p:nvSpPr>
          <p:cNvPr id="17" name="Shape 14"/>
          <p:cNvSpPr/>
          <p:nvPr/>
        </p:nvSpPr>
        <p:spPr>
          <a:xfrm>
            <a:off x="6995160" y="4709160"/>
            <a:ext cx="3703320" cy="749808"/>
          </a:xfrm>
          <a:prstGeom prst="roundRect">
            <a:avLst>
              <a:gd name="adj" fmla="val 6098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159752" y="4846320"/>
            <a:ext cx="3374136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50" b="1" dirty="0"/>
              <a:t>The data does not support a simple “goals disappeared” story.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Myth 3: “Big wins are common”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Most matches are close: one-goal matches and draws together account for more than half of all results.</a:t>
            </a:r>
            <a:endParaRPr lang="en-US" sz="11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777240" y="1417320"/>
          <a:ext cx="640080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645920"/>
            <a:ext cx="24231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28432" y="1792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E7D32"/>
                </a:solidFill>
              </a:rPr>
              <a:t>34.47%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028432" y="2130552"/>
            <a:ext cx="2093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one-goal matches</a:t>
            </a:r>
            <a:endParaRPr lang="en-US" sz="870" dirty="0"/>
          </a:p>
        </p:txBody>
      </p:sp>
      <p:sp>
        <p:nvSpPr>
          <p:cNvPr id="8" name="Shape 5"/>
          <p:cNvSpPr/>
          <p:nvPr/>
        </p:nvSpPr>
        <p:spPr>
          <a:xfrm>
            <a:off x="7863840" y="2697480"/>
            <a:ext cx="24231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28432" y="28437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F77B4"/>
                </a:solidFill>
              </a:rPr>
              <a:t>22.75%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028432" y="3182112"/>
            <a:ext cx="2093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draws</a:t>
            </a:r>
            <a:endParaRPr lang="en-US" sz="870" dirty="0"/>
          </a:p>
        </p:txBody>
      </p:sp>
      <p:sp>
        <p:nvSpPr>
          <p:cNvPr id="11" name="Shape 8"/>
          <p:cNvSpPr/>
          <p:nvPr/>
        </p:nvSpPr>
        <p:spPr>
          <a:xfrm>
            <a:off x="7863840" y="3749040"/>
            <a:ext cx="24231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028432" y="38953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B91C1C"/>
                </a:solidFill>
              </a:rPr>
              <a:t>3.81%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028432" y="4233672"/>
            <a:ext cx="2093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6+ goal blowouts</a:t>
            </a:r>
            <a:endParaRPr lang="en-US" sz="870" dirty="0"/>
          </a:p>
        </p:txBody>
      </p:sp>
      <p:sp>
        <p:nvSpPr>
          <p:cNvPr id="14" name="Text 11"/>
          <p:cNvSpPr/>
          <p:nvPr/>
        </p:nvSpPr>
        <p:spPr>
          <a:xfrm>
            <a:off x="7790688" y="4983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Descriptive interpretation: blowouts exist, but they are rare compared with close matches.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Myth 4: “Most goals happen in the final minutes”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Late goals are visible and memorable, but they are not the majority of known-minute goals.</a:t>
            </a:r>
            <a:endParaRPr lang="en-US" sz="11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85800" y="1417320"/>
          <a:ext cx="681228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8046720" y="1600200"/>
            <a:ext cx="26517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11312" y="174650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</a:rPr>
              <a:t>21.45%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211312" y="2084832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goals in 76–90 minutes</a:t>
            </a:r>
            <a:endParaRPr lang="en-US" sz="870" dirty="0"/>
          </a:p>
        </p:txBody>
      </p:sp>
      <p:sp>
        <p:nvSpPr>
          <p:cNvPr id="8" name="Shape 5"/>
          <p:cNvSpPr/>
          <p:nvPr/>
        </p:nvSpPr>
        <p:spPr>
          <a:xfrm>
            <a:off x="8046720" y="2651760"/>
            <a:ext cx="26517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11312" y="279806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B91C1C"/>
                </a:solidFill>
              </a:rPr>
              <a:t>0.54%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211312" y="3136392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recorded 90+ goals</a:t>
            </a:r>
            <a:endParaRPr lang="en-US" sz="870" dirty="0"/>
          </a:p>
        </p:txBody>
      </p:sp>
      <p:sp>
        <p:nvSpPr>
          <p:cNvPr id="11" name="Shape 8"/>
          <p:cNvSpPr/>
          <p:nvPr/>
        </p:nvSpPr>
        <p:spPr>
          <a:xfrm>
            <a:off x="7635240" y="4160520"/>
            <a:ext cx="3474720" cy="960120"/>
          </a:xfrm>
          <a:prstGeom prst="roundRect">
            <a:avLst>
              <a:gd name="adj" fmla="val 4762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99832" y="4297680"/>
            <a:ext cx="3145536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</a:rPr>
              <a:t>The final 15 minutes have the highest share, but “most goals” is too strong.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Myth 5: “Penalties and shootout order decide everything”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Penalty goals and own goals are small shares of all goal rows; first-shooter advantage is modest.</a:t>
            </a:r>
            <a:endParaRPr lang="en-US" sz="11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85800" y="1463040"/>
          <a:ext cx="47548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6355080" y="1463040"/>
          <a:ext cx="48006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914400" y="5166360"/>
            <a:ext cx="9966960" cy="68580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1078992" y="5303520"/>
            <a:ext cx="9637776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7706"/>
                </a:solidFill>
              </a:rPr>
              <a:t>First-shooter analysis is based only on shootouts where the first shooter is known.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 performance summary: strong teams stay visible across basic metrics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Shown below: teams with at least 500 matches, ranked by win percentage for readability.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2817551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539927" y="1417320"/>
            <a:ext cx="1628332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Matches</a:t>
            </a:r>
            <a:endParaRPr lang="en-US" sz="880" dirty="0"/>
          </a:p>
        </p:txBody>
      </p:sp>
      <p:sp>
        <p:nvSpPr>
          <p:cNvPr id="6" name="Text 4"/>
          <p:cNvSpPr/>
          <p:nvPr/>
        </p:nvSpPr>
        <p:spPr>
          <a:xfrm>
            <a:off x="5204835" y="1417320"/>
            <a:ext cx="1331027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%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6572437" y="1417320"/>
            <a:ext cx="246078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GF mean ± SD</a:t>
            </a:r>
            <a:endParaRPr lang="en-US" sz="880" dirty="0"/>
          </a:p>
        </p:txBody>
      </p:sp>
      <p:sp>
        <p:nvSpPr>
          <p:cNvPr id="8" name="Text 6"/>
          <p:cNvSpPr/>
          <p:nvPr/>
        </p:nvSpPr>
        <p:spPr>
          <a:xfrm>
            <a:off x="9069799" y="1417320"/>
            <a:ext cx="246078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 mean ± SD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685800" y="1828800"/>
            <a:ext cx="2817551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Brazil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3539927" y="1828800"/>
            <a:ext cx="1628332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1,057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5204835" y="1828800"/>
            <a:ext cx="1331027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63.39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6572437" y="1828800"/>
            <a:ext cx="246078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2.17 ± 1.74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9069799" y="1828800"/>
            <a:ext cx="246078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0.90 ± 1.08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685800" y="2240280"/>
            <a:ext cx="2817551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Spain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3539927" y="2240280"/>
            <a:ext cx="1628332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781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5204835" y="2240280"/>
            <a:ext cx="1331027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58.90</a:t>
            </a:r>
            <a:endParaRPr lang="en-US" sz="840" dirty="0"/>
          </a:p>
        </p:txBody>
      </p:sp>
      <p:sp>
        <p:nvSpPr>
          <p:cNvPr id="17" name="Text 15"/>
          <p:cNvSpPr/>
          <p:nvPr/>
        </p:nvSpPr>
        <p:spPr>
          <a:xfrm>
            <a:off x="6572437" y="2240280"/>
            <a:ext cx="246078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2.05 ± 1.78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9069799" y="2240280"/>
            <a:ext cx="246078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0.90 ± 1.05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685800" y="2651760"/>
            <a:ext cx="2817551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Germany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3539927" y="2651760"/>
            <a:ext cx="1628332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1,029</a:t>
            </a:r>
            <a:endParaRPr lang="en-US" sz="840" dirty="0"/>
          </a:p>
        </p:txBody>
      </p:sp>
      <p:sp>
        <p:nvSpPr>
          <p:cNvPr id="21" name="Text 19"/>
          <p:cNvSpPr/>
          <p:nvPr/>
        </p:nvSpPr>
        <p:spPr>
          <a:xfrm>
            <a:off x="5204835" y="2651760"/>
            <a:ext cx="1331027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58.02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6572437" y="2651760"/>
            <a:ext cx="246078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2.25 ± 1.90</a:t>
            </a:r>
            <a:endParaRPr lang="en-US" sz="840" dirty="0"/>
          </a:p>
        </p:txBody>
      </p:sp>
      <p:sp>
        <p:nvSpPr>
          <p:cNvPr id="23" name="Text 21"/>
          <p:cNvSpPr/>
          <p:nvPr/>
        </p:nvSpPr>
        <p:spPr>
          <a:xfrm>
            <a:off x="9069799" y="2651760"/>
            <a:ext cx="246078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1.16 ± 1.19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685800" y="3063240"/>
            <a:ext cx="2817551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England</a:t>
            </a:r>
            <a:endParaRPr lang="en-US" sz="840" dirty="0"/>
          </a:p>
        </p:txBody>
      </p:sp>
      <p:sp>
        <p:nvSpPr>
          <p:cNvPr id="25" name="Text 23"/>
          <p:cNvSpPr/>
          <p:nvPr/>
        </p:nvSpPr>
        <p:spPr>
          <a:xfrm>
            <a:off x="3539927" y="3063240"/>
            <a:ext cx="1628332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1,088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5204835" y="3063240"/>
            <a:ext cx="1331027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57.26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6572437" y="3063240"/>
            <a:ext cx="246078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2.18 ± 1.95</a:t>
            </a:r>
            <a:endParaRPr lang="en-US" sz="840" dirty="0"/>
          </a:p>
        </p:txBody>
      </p:sp>
      <p:sp>
        <p:nvSpPr>
          <p:cNvPr id="28" name="Text 26"/>
          <p:cNvSpPr/>
          <p:nvPr/>
        </p:nvSpPr>
        <p:spPr>
          <a:xfrm>
            <a:off x="9069799" y="3063240"/>
            <a:ext cx="246078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0.96 ± 1.08</a:t>
            </a:r>
            <a:endParaRPr lang="en-US" sz="840" dirty="0"/>
          </a:p>
        </p:txBody>
      </p:sp>
      <p:sp>
        <p:nvSpPr>
          <p:cNvPr id="29" name="Text 27"/>
          <p:cNvSpPr/>
          <p:nvPr/>
        </p:nvSpPr>
        <p:spPr>
          <a:xfrm>
            <a:off x="685800" y="3474720"/>
            <a:ext cx="2817551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Argentina</a:t>
            </a:r>
            <a:endParaRPr lang="en-US" sz="840" dirty="0"/>
          </a:p>
        </p:txBody>
      </p:sp>
      <p:sp>
        <p:nvSpPr>
          <p:cNvPr id="30" name="Text 28"/>
          <p:cNvSpPr/>
          <p:nvPr/>
        </p:nvSpPr>
        <p:spPr>
          <a:xfrm>
            <a:off x="3539927" y="3474720"/>
            <a:ext cx="1628332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1,064</a:t>
            </a:r>
            <a:endParaRPr lang="en-US" sz="840" dirty="0"/>
          </a:p>
        </p:txBody>
      </p:sp>
      <p:sp>
        <p:nvSpPr>
          <p:cNvPr id="31" name="Text 29"/>
          <p:cNvSpPr/>
          <p:nvPr/>
        </p:nvSpPr>
        <p:spPr>
          <a:xfrm>
            <a:off x="5204835" y="3474720"/>
            <a:ext cx="1331027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55.26</a:t>
            </a:r>
            <a:endParaRPr lang="en-US" sz="840" dirty="0"/>
          </a:p>
        </p:txBody>
      </p:sp>
      <p:sp>
        <p:nvSpPr>
          <p:cNvPr id="32" name="Text 30"/>
          <p:cNvSpPr/>
          <p:nvPr/>
        </p:nvSpPr>
        <p:spPr>
          <a:xfrm>
            <a:off x="6572437" y="3474720"/>
            <a:ext cx="246078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1.89 ± 1.64</a:t>
            </a:r>
            <a:endParaRPr lang="en-US" sz="840" dirty="0"/>
          </a:p>
        </p:txBody>
      </p:sp>
      <p:sp>
        <p:nvSpPr>
          <p:cNvPr id="33" name="Text 31"/>
          <p:cNvSpPr/>
          <p:nvPr/>
        </p:nvSpPr>
        <p:spPr>
          <a:xfrm>
            <a:off x="9069799" y="3474720"/>
            <a:ext cx="246078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 ± 1.09</a:t>
            </a:r>
            <a:endParaRPr lang="en-US" sz="840" dirty="0"/>
          </a:p>
        </p:txBody>
      </p:sp>
      <p:sp>
        <p:nvSpPr>
          <p:cNvPr id="34" name="Text 32"/>
          <p:cNvSpPr/>
          <p:nvPr/>
        </p:nvSpPr>
        <p:spPr>
          <a:xfrm>
            <a:off x="685800" y="3886200"/>
            <a:ext cx="2817551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Italy</a:t>
            </a:r>
            <a:endParaRPr lang="en-US" sz="840" dirty="0"/>
          </a:p>
        </p:txBody>
      </p:sp>
      <p:sp>
        <p:nvSpPr>
          <p:cNvPr id="35" name="Text 33"/>
          <p:cNvSpPr/>
          <p:nvPr/>
        </p:nvSpPr>
        <p:spPr>
          <a:xfrm>
            <a:off x="3539927" y="3886200"/>
            <a:ext cx="1628332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891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5204835" y="3886200"/>
            <a:ext cx="1331027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53.31</a:t>
            </a:r>
            <a:endParaRPr lang="en-US" sz="840" dirty="0"/>
          </a:p>
        </p:txBody>
      </p:sp>
      <p:sp>
        <p:nvSpPr>
          <p:cNvPr id="37" name="Text 35"/>
          <p:cNvSpPr/>
          <p:nvPr/>
        </p:nvSpPr>
        <p:spPr>
          <a:xfrm>
            <a:off x="6572437" y="3886200"/>
            <a:ext cx="246078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1.75 ± 1.51</a:t>
            </a:r>
            <a:endParaRPr lang="en-US" sz="840" dirty="0"/>
          </a:p>
        </p:txBody>
      </p:sp>
      <p:sp>
        <p:nvSpPr>
          <p:cNvPr id="38" name="Text 36"/>
          <p:cNvSpPr/>
          <p:nvPr/>
        </p:nvSpPr>
        <p:spPr>
          <a:xfrm>
            <a:off x="9069799" y="3886200"/>
            <a:ext cx="246078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0.98 ± 1.09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1143000" y="4800600"/>
            <a:ext cx="9692640" cy="777240"/>
          </a:xfrm>
          <a:prstGeom prst="roundRect">
            <a:avLst>
              <a:gd name="adj" fmla="val 5882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07592" y="4937760"/>
            <a:ext cx="9363456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</a:rPr>
              <a:t>Performance should be interpreted as descriptive history, not as a universal ranking of quality.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Scorer summary: basic output table for player-level reporting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Top scorers are summarized with total goals, penalty goals, and mean scoring minute.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3780558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Scorer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4685814" y="1417320"/>
            <a:ext cx="1447865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Goals</a:t>
            </a:r>
            <a:endParaRPr lang="en-US" sz="880" dirty="0"/>
          </a:p>
        </p:txBody>
      </p:sp>
      <p:sp>
        <p:nvSpPr>
          <p:cNvPr id="6" name="Text 4"/>
          <p:cNvSpPr/>
          <p:nvPr/>
        </p:nvSpPr>
        <p:spPr>
          <a:xfrm>
            <a:off x="6170254" y="1417320"/>
            <a:ext cx="1765959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Penalty goals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7972790" y="1417320"/>
            <a:ext cx="2826274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minute ± SD</a:t>
            </a:r>
            <a:endParaRPr lang="en-US" sz="880" dirty="0"/>
          </a:p>
        </p:txBody>
      </p:sp>
      <p:sp>
        <p:nvSpPr>
          <p:cNvPr id="8" name="Text 6"/>
          <p:cNvSpPr/>
          <p:nvPr/>
        </p:nvSpPr>
        <p:spPr>
          <a:xfrm>
            <a:off x="868680" y="1882140"/>
            <a:ext cx="3780558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Cristiano Ronaldo</a:t>
            </a:r>
            <a:endParaRPr lang="en-US" sz="840" dirty="0"/>
          </a:p>
        </p:txBody>
      </p:sp>
      <p:sp>
        <p:nvSpPr>
          <p:cNvPr id="9" name="Text 7"/>
          <p:cNvSpPr/>
          <p:nvPr/>
        </p:nvSpPr>
        <p:spPr>
          <a:xfrm>
            <a:off x="4685814" y="1882140"/>
            <a:ext cx="1447865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121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6170254" y="1882140"/>
            <a:ext cx="1765959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7972790" y="1882140"/>
            <a:ext cx="2826274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53.07 ± 26.84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868680" y="2346960"/>
            <a:ext cx="3780558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Harry Kane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4685814" y="2346960"/>
            <a:ext cx="1447865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6170254" y="2346960"/>
            <a:ext cx="1765959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7972790" y="2346960"/>
            <a:ext cx="2826274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53.16 ± 25.52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868680" y="2811780"/>
            <a:ext cx="3780558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 Lewandowski</a:t>
            </a:r>
            <a:endParaRPr lang="en-US" sz="840" dirty="0"/>
          </a:p>
        </p:txBody>
      </p:sp>
      <p:sp>
        <p:nvSpPr>
          <p:cNvPr id="17" name="Text 15"/>
          <p:cNvSpPr/>
          <p:nvPr/>
        </p:nvSpPr>
        <p:spPr>
          <a:xfrm>
            <a:off x="4685814" y="2811780"/>
            <a:ext cx="1447865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68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6170254" y="2811780"/>
            <a:ext cx="1765959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7972790" y="2811780"/>
            <a:ext cx="2826274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50.97 ± 27.26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868680" y="3276600"/>
            <a:ext cx="3780558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Romelu Lukaku</a:t>
            </a:r>
            <a:endParaRPr lang="en-US" sz="840" dirty="0"/>
          </a:p>
        </p:txBody>
      </p:sp>
      <p:sp>
        <p:nvSpPr>
          <p:cNvPr id="21" name="Text 19"/>
          <p:cNvSpPr/>
          <p:nvPr/>
        </p:nvSpPr>
        <p:spPr>
          <a:xfrm>
            <a:off x="4685814" y="3276600"/>
            <a:ext cx="1447865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6170254" y="3276600"/>
            <a:ext cx="1765959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840" dirty="0"/>
          </a:p>
        </p:txBody>
      </p:sp>
      <p:sp>
        <p:nvSpPr>
          <p:cNvPr id="23" name="Text 21"/>
          <p:cNvSpPr/>
          <p:nvPr/>
        </p:nvSpPr>
        <p:spPr>
          <a:xfrm>
            <a:off x="7972790" y="3276600"/>
            <a:ext cx="2826274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50.83 ± 25.21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868680" y="3741420"/>
            <a:ext cx="3780558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Lionel Messi</a:t>
            </a:r>
            <a:endParaRPr lang="en-US" sz="840" dirty="0"/>
          </a:p>
        </p:txBody>
      </p:sp>
      <p:sp>
        <p:nvSpPr>
          <p:cNvPr id="25" name="Text 23"/>
          <p:cNvSpPr/>
          <p:nvPr/>
        </p:nvSpPr>
        <p:spPr>
          <a:xfrm>
            <a:off x="4685814" y="3741420"/>
            <a:ext cx="1447865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63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6170254" y="3741420"/>
            <a:ext cx="1765959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7972790" y="3741420"/>
            <a:ext cx="2826274" cy="3997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47.40 ± 26.59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1188720" y="4800600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353312" y="494690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F77B4"/>
                </a:solidFill>
              </a:rPr>
              <a:t>121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353312" y="5285232"/>
            <a:ext cx="2002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Cristiano Ronaldo goals</a:t>
            </a:r>
            <a:endParaRPr lang="en-US" sz="870" dirty="0"/>
          </a:p>
        </p:txBody>
      </p:sp>
      <p:sp>
        <p:nvSpPr>
          <p:cNvPr id="31" name="Shape 29"/>
          <p:cNvSpPr/>
          <p:nvPr/>
        </p:nvSpPr>
        <p:spPr>
          <a:xfrm>
            <a:off x="3840480" y="4800600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005072" y="494690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</a:rPr>
              <a:t>22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005072" y="5285232"/>
            <a:ext cx="2002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Harry Kane penalty goals</a:t>
            </a:r>
            <a:endParaRPr lang="en-US" sz="870" dirty="0"/>
          </a:p>
        </p:txBody>
      </p:sp>
      <p:sp>
        <p:nvSpPr>
          <p:cNvPr id="34" name="Shape 32"/>
          <p:cNvSpPr/>
          <p:nvPr/>
        </p:nvSpPr>
        <p:spPr>
          <a:xfrm>
            <a:off x="6492240" y="4800600"/>
            <a:ext cx="27432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656832" y="494690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E7D32"/>
                </a:solidFill>
              </a:rPr>
              <a:t>47–53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656832" y="5285232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typical mean scoring minute range</a:t>
            </a:r>
            <a:endParaRPr lang="en-US" sz="870" dirty="0"/>
          </a:p>
        </p:txBody>
      </p:sp>
      <p:sp>
        <p:nvSpPr>
          <p:cNvPr id="37" name="Text 35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Conclusion: descriptive evidence challenges simple football myths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The project is ready for a short presentation after exporting the final SQL summary tables.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444752"/>
            <a:ext cx="438912" cy="292608"/>
          </a:xfrm>
          <a:prstGeom prst="roundRect">
            <a:avLst>
              <a:gd name="adj" fmla="val 1562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417320" y="142646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</a:rPr>
              <a:t>Home advantage exists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43400" y="142646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but home teams do not always dominate.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176272"/>
            <a:ext cx="438912" cy="292608"/>
          </a:xfrm>
          <a:prstGeom prst="roundRect">
            <a:avLst>
              <a:gd name="adj" fmla="val 1562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1945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17320" y="215798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</a:rPr>
              <a:t>Goals have not collapsed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21579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recent averages remain close to historical decades.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2907792"/>
            <a:ext cx="438912" cy="292608"/>
          </a:xfrm>
          <a:prstGeom prst="roundRect">
            <a:avLst>
              <a:gd name="adj" fmla="val 1562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92608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17320" y="288950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</a:rPr>
              <a:t>Close matches are common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43400" y="288950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6+ goal blowouts are rare.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3639312"/>
            <a:ext cx="438912" cy="292608"/>
          </a:xfrm>
          <a:prstGeom prst="roundRect">
            <a:avLst>
              <a:gd name="adj" fmla="val 1562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657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17320" y="362102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</a:rPr>
              <a:t>Late goals are not the majority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43400" y="362102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the final 15 minutes are important but not everything.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370832"/>
            <a:ext cx="438912" cy="292608"/>
          </a:xfrm>
          <a:prstGeom prst="roundRect">
            <a:avLst>
              <a:gd name="adj" fmla="val 1562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38912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17320" y="435254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</a:rPr>
              <a:t>Penalties and own goals are small shares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43400" y="435254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dramatic events are not the whole picture.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88720" y="5532120"/>
            <a:ext cx="9738360" cy="68580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53312" y="5669280"/>
            <a:ext cx="9409176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7706"/>
                </a:solidFill>
              </a:rPr>
              <a:t>Recommended wording: “The descriptive results do not support the myth.” Avoid saying “statistically rejected” unless formal tests are added.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" y="655624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808</Words>
  <Application>Microsoft Office PowerPoint</Application>
  <PresentationFormat>Широкоэкранный</PresentationFormat>
  <Paragraphs>193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University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Football Myths Under Data</dc:title>
  <dc:subject>Football descriptive analytics project</dc:subject>
  <dc:creator>ChatGPT</dc:creator>
  <cp:lastModifiedBy>Gevorg Ghevondyan</cp:lastModifiedBy>
  <cp:revision>6</cp:revision>
  <dcterms:created xsi:type="dcterms:W3CDTF">2026-05-26T16:59:43Z</dcterms:created>
  <dcterms:modified xsi:type="dcterms:W3CDTF">2026-05-27T13:08:11Z</dcterms:modified>
</cp:coreProperties>
</file>