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Home win</c:v>
                  </c:pt>
                  <c:pt idx="1">
                    <c:v>Away win</c:v>
                  </c:pt>
                  <c:pt idx="2">
                    <c:v>Draw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50.72</c:v>
                </c:pt>
                <c:pt idx="1">
                  <c:v>26.42</c:v>
                </c:pt>
                <c:pt idx="2">
                  <c:v>22.86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 win %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1980s</c:v>
                  </c:pt>
                  <c:pt idx="1">
                    <c:v>1990s</c:v>
                  </c:pt>
                  <c:pt idx="2">
                    <c:v>2000s</c:v>
                  </c:pt>
                  <c:pt idx="3">
                    <c:v>2010s</c:v>
                  </c:pt>
                  <c:pt idx="4">
                    <c:v>2020s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49.08</c:v>
                </c:pt>
                <c:pt idx="1">
                  <c:v>50.57</c:v>
                </c:pt>
                <c:pt idx="2">
                  <c:v>50.9</c:v>
                </c:pt>
                <c:pt idx="3">
                  <c:v>50.53</c:v>
                </c:pt>
                <c:pt idx="4">
                  <c:v>50.83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goals</c:v>
                </c:pt>
              </c:strCache>
            </c:strRef>
          </c:tx>
          <c:spPr>
            <a:solidFill>
              <a:srgbClr val="1F77B4"/>
            </a:solidFill>
            <a:ln w="25400" cap="flat">
              <a:solidFill>
                <a:srgbClr val="1F77B4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1980s</c:v>
                  </c:pt>
                  <c:pt idx="1">
                    <c:v>1990s</c:v>
                  </c:pt>
                  <c:pt idx="2">
                    <c:v>2000s</c:v>
                  </c:pt>
                  <c:pt idx="3">
                    <c:v>2010s</c:v>
                  </c:pt>
                  <c:pt idx="4">
                    <c:v>2020s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2.53</c:v>
                </c:pt>
                <c:pt idx="1">
                  <c:v>2.78</c:v>
                </c:pt>
                <c:pt idx="2">
                  <c:v>2.8</c:v>
                </c:pt>
                <c:pt idx="3">
                  <c:v>2.73</c:v>
                </c:pt>
                <c:pt idx="4">
                  <c:v>2.71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One-goal</c:v>
                  </c:pt>
                  <c:pt idx="1">
                    <c:v>Draw</c:v>
                  </c:pt>
                  <c:pt idx="2">
                    <c:v>Two-goal</c:v>
                  </c:pt>
                  <c:pt idx="3">
                    <c:v>3–5 goals</c:v>
                  </c:pt>
                  <c:pt idx="4">
                    <c:v>6+ goals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34.47</c:v>
                </c:pt>
                <c:pt idx="1">
                  <c:v>22.75</c:v>
                </c:pt>
                <c:pt idx="2">
                  <c:v>20.06</c:v>
                </c:pt>
                <c:pt idx="3">
                  <c:v>18.91</c:v>
                </c:pt>
                <c:pt idx="4">
                  <c:v>3.81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01–15</c:v>
                  </c:pt>
                  <c:pt idx="1">
                    <c:v>16–30</c:v>
                  </c:pt>
                  <c:pt idx="2">
                    <c:v>31–45</c:v>
                  </c:pt>
                  <c:pt idx="3">
                    <c:v>46–60</c:v>
                  </c:pt>
                  <c:pt idx="4">
                    <c:v>61–75</c:v>
                  </c:pt>
                  <c:pt idx="5">
                    <c:v>76–90</c:v>
                  </c:pt>
                  <c:pt idx="6">
                    <c:v>90+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12.96</c:v>
                </c:pt>
                <c:pt idx="1">
                  <c:v>14.67</c:v>
                </c:pt>
                <c:pt idx="2">
                  <c:v>16.81</c:v>
                </c:pt>
                <c:pt idx="3">
                  <c:v>16.59</c:v>
                </c:pt>
                <c:pt idx="4">
                  <c:v>16.98</c:v>
                </c:pt>
                <c:pt idx="5">
                  <c:v>21.45</c:v>
                </c:pt>
                <c:pt idx="6">
                  <c:v>0.54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goals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Penalty goals</c:v>
                  </c:pt>
                  <c:pt idx="1">
                    <c:v>Own goals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6.84</c:v>
                </c:pt>
                <c:pt idx="1">
                  <c:v>1.94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 of known first-shooter shootouts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 won</c:v>
                  </c:pt>
                  <c:pt idx="1">
                    <c:v>First lost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53.66</c:v>
                </c:pt>
                <c:pt idx="1">
                  <c:v>46.34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Football Myths Under Data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67512" y="17099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Descriptive analysis of international football matches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7512" y="22402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ETL pipeline • SQL summaries • myth-checking tables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2743200" cy="0"/>
          </a:xfrm>
          <a:prstGeom prst="line">
            <a:avLst/>
          </a:prstGeom>
          <a:noFill/>
          <a:ln w="508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4160520"/>
            <a:ext cx="21945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430682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49,214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" y="46451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cleaned matches loaded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154680" y="4160520"/>
            <a:ext cx="2011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9272" y="43068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333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19272" y="4645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teams in match table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5440680" y="4160520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05272" y="4306824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77B4"/>
                </a:solidFill>
              </a:rPr>
              <a:t>2.94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05272" y="464515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mean goals per match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85800" y="62910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University data ingestion and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workflow: from raw files to presentation tables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project follows a simple ETL path, then converts loaded tables into descriptive SQL summaries.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PIPELINE LOGIC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31520" y="184708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9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7452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Extract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2148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Read results, shootouts, and goalscorers CSV files.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80720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9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Clean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74520" y="3108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Remove unusable rows, standardize dates and validate links.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76732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9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745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Load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74520" y="40690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Insert dimensions and fact tables into SQL Server.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727448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8097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7452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Analyze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74520" y="5029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Create views and summary tables for myths and team performance.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1920240"/>
            <a:ext cx="3611880" cy="1097280"/>
          </a:xfrm>
          <a:prstGeom prst="roundRect">
            <a:avLst>
              <a:gd name="adj" fmla="val 416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2057400"/>
            <a:ext cx="328269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Output is not a formal statistical test. It is a defensible descriptive evidence base.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0" y="33375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Final deliverable: clear tables for counts, percentages, means, standard deviations, trends, and team-level summaries.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cleaning: what was controlled before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Only safe cleaning decisions were applied; ambiguous records were documented instead of being silently changed.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24688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6550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0392" y="199339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bad dates / scores / flags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24688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16550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93592" y="199339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invalid scorer-team links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24688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6792" y="165506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36792" y="199339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duplicate fact rows after checks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915400" y="1508760"/>
            <a:ext cx="2514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79992" y="165506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79992" y="199339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conflicting match retained as negligible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731520" y="2880360"/>
            <a:ext cx="334670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decision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114800" y="2880360"/>
            <a:ext cx="737006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31520" y="3364992"/>
            <a:ext cx="334670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Unplayed future matches removed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114800" y="3364992"/>
            <a:ext cx="737006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scores cannot support completed-match analysis.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31520" y="3849624"/>
            <a:ext cx="334670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with missing scorer names removed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4114800" y="3849624"/>
            <a:ext cx="737006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Scorer-level summaries require a known scorer.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731520" y="4334256"/>
            <a:ext cx="334670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Unmatched shootout excluded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4114800" y="4334256"/>
            <a:ext cx="737006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Shootout could not be linked to a result match.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731520" y="4818888"/>
            <a:ext cx="334670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Former names not automatically remapped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4114800" y="4818888"/>
            <a:ext cx="7370064" cy="41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changing historical team identities without a date-wise rule.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overview: enough coverage for descriptive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match table covers a long historical period and many competitions, so summary patterns are informative.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19659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655064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77B4"/>
                </a:solidFill>
              </a:rPr>
              <a:t>49,214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0392" y="1993392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matches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2852928" y="1508760"/>
            <a:ext cx="16459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65506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333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199339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teams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73752" y="165506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193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73752" y="199339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tournaments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739128" y="150876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65506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269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199339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host countries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8796528" y="1508760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165506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1872–2026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199339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date range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1005840" y="2926080"/>
            <a:ext cx="307238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114800" y="2926080"/>
            <a:ext cx="179222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005840" y="3329940"/>
            <a:ext cx="307238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goals per match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4114800" y="3329940"/>
            <a:ext cx="179222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2.94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1005840" y="3733800"/>
            <a:ext cx="307238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 goals per match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4114800" y="3733800"/>
            <a:ext cx="179222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2.09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1005840" y="4137660"/>
            <a:ext cx="307238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goals in a match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4114800" y="4137660"/>
            <a:ext cx="179222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1005840" y="4541520"/>
            <a:ext cx="307238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goals in a match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4114800" y="4541520"/>
            <a:ext cx="179222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1005840" y="4945380"/>
            <a:ext cx="307238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of summaries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4114800" y="4945380"/>
            <a:ext cx="1792224" cy="34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broad patterns, not prove causal effects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583680" y="3127248"/>
            <a:ext cx="4297680" cy="1463040"/>
          </a:xfrm>
          <a:prstGeom prst="roundRect">
            <a:avLst>
              <a:gd name="adj" fmla="val 3125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3264408"/>
            <a:ext cx="396849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Main message: the dataset is broad enough to challenge simple myths, but conclusions should remain descriptive.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Myth 1: “The home team always wins”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Home advantage exists, but it is far from absolute: almost half of non-neutral matches are not home wins.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508760"/>
          <a:ext cx="50292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508760"/>
          <a:ext cx="4800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46520" y="4800600"/>
            <a:ext cx="4709160" cy="822960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611112" y="4937760"/>
            <a:ext cx="43799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Descriptive interpretation: home teams win about 51% of non-neutral matches, so home advantage is real but not deterministic.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Myth 2: “Football is becoming boring because goals disappeared”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recent average is lower than the 1990s/2000s peak, but the change is moderate rather than a collapse.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41732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995160" y="1600200"/>
            <a:ext cx="133502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Decade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8366760" y="1600200"/>
            <a:ext cx="229514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± SD goals</a:t>
            </a:r>
            <a:endParaRPr lang="en-US" sz="880" dirty="0"/>
          </a:p>
        </p:txBody>
      </p:sp>
      <p:sp>
        <p:nvSpPr>
          <p:cNvPr id="7" name="Text 4"/>
          <p:cNvSpPr/>
          <p:nvPr/>
        </p:nvSpPr>
        <p:spPr>
          <a:xfrm>
            <a:off x="6995160" y="2019300"/>
            <a:ext cx="133502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1980s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8366760" y="2019300"/>
            <a:ext cx="229514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2.53 ± 1.82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6995160" y="2438400"/>
            <a:ext cx="133502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1990s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8366760" y="2438400"/>
            <a:ext cx="229514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2.78 ± 2.02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6995160" y="2857500"/>
            <a:ext cx="133502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2000s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8366760" y="2857500"/>
            <a:ext cx="229514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2.80 ± 2.06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6995160" y="3276600"/>
            <a:ext cx="133502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2010s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8366760" y="3276600"/>
            <a:ext cx="229514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2.73 ± 1.96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6995160" y="3695700"/>
            <a:ext cx="133502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2020s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8366760" y="3695700"/>
            <a:ext cx="2295144" cy="360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2.71 ± 1.83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995160" y="4709160"/>
            <a:ext cx="3703320" cy="749808"/>
          </a:xfrm>
          <a:prstGeom prst="roundRect">
            <a:avLst>
              <a:gd name="adj" fmla="val 609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9752" y="4846320"/>
            <a:ext cx="33741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The data does not support a simple “goals disappeared” story.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Myth 3: “Big wins are common”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Most matches are close: one-goal matches and draws together account for more than half of all results.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417320"/>
          <a:ext cx="64008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45920"/>
            <a:ext cx="2423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28432" y="179222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34.47%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28432" y="213055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one-goal matches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7863840" y="2697480"/>
            <a:ext cx="2423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28432" y="284378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77B4"/>
                </a:solidFill>
              </a:rPr>
              <a:t>22.75%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28432" y="318211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draws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7863840" y="3749040"/>
            <a:ext cx="2423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28432" y="389534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3.81%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28432" y="423367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6+ goal blowouts</a:t>
            </a:r>
            <a:endParaRPr lang="en-US" sz="870" dirty="0"/>
          </a:p>
        </p:txBody>
      </p:sp>
      <p:sp>
        <p:nvSpPr>
          <p:cNvPr id="14" name="Text 11"/>
          <p:cNvSpPr/>
          <p:nvPr/>
        </p:nvSpPr>
        <p:spPr>
          <a:xfrm>
            <a:off x="7790688" y="4983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Descriptive interpretation: blowouts exist, but they are rare compared with close matches.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Myth 4: “Most goals happen in the final minutes”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Late goals are visible and memorable, but they are not the majority of known-minute goals.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417320"/>
          <a:ext cx="68122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600200"/>
            <a:ext cx="26517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11312" y="174650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21.45%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11312" y="208483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goals in 76–90 minutes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8046720" y="2651760"/>
            <a:ext cx="26517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11312" y="279806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0.54%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11312" y="313639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recorded 90+ goals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7635240" y="4160520"/>
            <a:ext cx="3474720" cy="96012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9832" y="4297680"/>
            <a:ext cx="314553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The final 15 minutes have the highest share, but “most goals” is too strong.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Myth 5: “Penalties and shootout order decide everything”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Penalty goals and own goals are small shares of all goal rows; first-shooter advantage is modest.</a:t>
            </a:r>
            <a:endParaRPr lang="en-US" sz="11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46304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55080" y="1463040"/>
          <a:ext cx="4800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914400" y="5166360"/>
            <a:ext cx="9966960" cy="6858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78992" y="5303520"/>
            <a:ext cx="96377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Use careful wording: first-shooter analysis is based only on shootouts where the first shooter is known.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performance summary: strong teams stay visible across basic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Shown below: teams with at least 500 matches, ranked by win percentage for readability.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817551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3539927" y="1417320"/>
            <a:ext cx="162833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Matches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5204835" y="1417320"/>
            <a:ext cx="1331027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%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6572437" y="141732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GF mean ± SD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9069799" y="141732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 mean ± SD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817551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Brazil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3539927" y="1828800"/>
            <a:ext cx="162833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1,057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5204835" y="1828800"/>
            <a:ext cx="1331027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63.39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6572437" y="182880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2.17 ± 1.74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9069799" y="182880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 ± 1.08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2817551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Spain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3539927" y="2240280"/>
            <a:ext cx="162833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781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5204835" y="2240280"/>
            <a:ext cx="1331027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58.90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572437" y="224028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2.05 ± 1.78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9069799" y="224028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 ± 1.05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685800" y="2651760"/>
            <a:ext cx="2817551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Germany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3539927" y="2651760"/>
            <a:ext cx="162833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1,029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5204835" y="2651760"/>
            <a:ext cx="1331027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58.02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6572437" y="265176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2.25 ± 1.90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9069799" y="265176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1.16 ± 1.19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685800" y="3063240"/>
            <a:ext cx="2817551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England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3539927" y="3063240"/>
            <a:ext cx="162833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1,088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204835" y="3063240"/>
            <a:ext cx="1331027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57.26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572437" y="306324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2.18 ± 1.95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9069799" y="306324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 ± 1.08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685800" y="3474720"/>
            <a:ext cx="2817551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Argentina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3539927" y="3474720"/>
            <a:ext cx="162833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1,064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5204835" y="3474720"/>
            <a:ext cx="1331027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55.26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6572437" y="347472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1.89 ± 1.64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9069799" y="347472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1.01 ± 1.09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685800" y="3886200"/>
            <a:ext cx="2817551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Italy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3539927" y="3886200"/>
            <a:ext cx="1628332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891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5204835" y="3886200"/>
            <a:ext cx="1331027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53.31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6572437" y="388620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1.75 ± 1.51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9069799" y="3886200"/>
            <a:ext cx="2460785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 ± 1.09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143000" y="4800600"/>
            <a:ext cx="9692640" cy="77724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07592" y="4937760"/>
            <a:ext cx="936345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</a:rPr>
              <a:t>Performance should be interpreted as descriptive history, not as a universal ranking of quality.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Scorer summary: basic output table for player-level reporting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Top scorers are summarized with total goals, penalty goals, and mean scoring minute.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3780558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Scorer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4685814" y="1417320"/>
            <a:ext cx="1447865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Goals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6170254" y="1417320"/>
            <a:ext cx="1765959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Penalty goals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972790" y="1417320"/>
            <a:ext cx="2826274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minute ± SD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868680" y="1882140"/>
            <a:ext cx="3780558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Cristiano Ronaldo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4685814" y="1882140"/>
            <a:ext cx="1447865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121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170254" y="1882140"/>
            <a:ext cx="1765959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7972790" y="1882140"/>
            <a:ext cx="2826274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53.07 ± 26.84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868680" y="2346960"/>
            <a:ext cx="3780558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Harry Kane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4685814" y="2346960"/>
            <a:ext cx="1447865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6170254" y="2346960"/>
            <a:ext cx="1765959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7972790" y="2346960"/>
            <a:ext cx="2826274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53.16 ± 25.52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868680" y="2811780"/>
            <a:ext cx="3780558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Robert Lewandowski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4685814" y="2811780"/>
            <a:ext cx="1447865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170254" y="2811780"/>
            <a:ext cx="1765959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7972790" y="2811780"/>
            <a:ext cx="2826274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50.97 ± 27.26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868680" y="3276600"/>
            <a:ext cx="3780558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Romelu Lukaku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4685814" y="3276600"/>
            <a:ext cx="1447865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6170254" y="3276600"/>
            <a:ext cx="1765959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972790" y="3276600"/>
            <a:ext cx="2826274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50.83 ± 25.21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868680" y="3741420"/>
            <a:ext cx="3780558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Lionel Messi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4685814" y="3741420"/>
            <a:ext cx="1447865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6170254" y="3741420"/>
            <a:ext cx="1765959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7972790" y="3741420"/>
            <a:ext cx="2826274" cy="39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47.40 ± 26.59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1188720" y="480060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353312" y="49469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77B4"/>
                </a:solidFill>
              </a:rPr>
              <a:t>121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53312" y="528523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Cristiano Ronaldo goals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3840480" y="4800600"/>
            <a:ext cx="2331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005072" y="494690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22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005072" y="528523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Harry Kane penalty goals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492240" y="4800600"/>
            <a:ext cx="2743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56832" y="494690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47–53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656832" y="528523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typical mean scoring minute range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descriptive evidence challenges simple football myths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project is ready for a short presentation after exporting the final SQL summary tables.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426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Home advantage exists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142646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but home teams do not always dominate.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17627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945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1579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Goals have not collapsed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1579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recent averages remain close to historical decades.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90779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2608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889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Close matches are common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288950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6+ goal blowouts are rare.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63931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36210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Late goals are not the majority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362102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final 15 minutes are important but not everything.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370832"/>
            <a:ext cx="438912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891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43525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Penalties and own goals are small shares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435254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dramatic events are not the whole picture.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88720" y="5532120"/>
            <a:ext cx="9738360" cy="6858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5669280"/>
            <a:ext cx="94091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Recommended wording: “The descriptive results do not support the myth.” Avoid saying “statistically rejected” unless formal tests are added.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Football descriptive analytics |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University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Myths Under Data</dc:title>
  <dc:subject>Football descriptive analytics project</dc:subject>
  <dc:creator>ChatGPT</dc:creator>
  <cp:lastModifiedBy>ChatGPT</cp:lastModifiedBy>
  <cp:revision>1</cp:revision>
  <dcterms:created xsi:type="dcterms:W3CDTF">2026-05-26T16:59:43Z</dcterms:created>
  <dcterms:modified xsi:type="dcterms:W3CDTF">2026-05-26T16:59:43Z</dcterms:modified>
</cp:coreProperties>
</file>